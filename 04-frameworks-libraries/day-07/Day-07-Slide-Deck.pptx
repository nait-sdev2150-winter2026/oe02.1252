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82" r:id="rId4"/>
    <p:sldId id="306" r:id="rId5"/>
    <p:sldId id="322" r:id="rId6"/>
    <p:sldId id="307" r:id="rId7"/>
    <p:sldId id="303" r:id="rId8"/>
    <p:sldId id="342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08" r:id="rId18"/>
    <p:sldId id="301" r:id="rId19"/>
    <p:sldId id="309" r:id="rId20"/>
    <p:sldId id="302" r:id="rId21"/>
    <p:sldId id="310" r:id="rId22"/>
    <p:sldId id="304" r:id="rId23"/>
    <p:sldId id="323" r:id="rId24"/>
    <p:sldId id="324" r:id="rId25"/>
    <p:sldId id="325" r:id="rId26"/>
    <p:sldId id="326" r:id="rId27"/>
    <p:sldId id="332" r:id="rId28"/>
    <p:sldId id="331" r:id="rId29"/>
    <p:sldId id="295" r:id="rId30"/>
    <p:sldId id="258" r:id="rId31"/>
    <p:sldId id="28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/>
    <p:restoredTop sz="94679"/>
  </p:normalViewPr>
  <p:slideViewPr>
    <p:cSldViewPr snapToGrid="0">
      <p:cViewPr varScale="1">
        <p:scale>
          <a:sx n="121" d="100"/>
          <a:sy n="121" d="100"/>
        </p:scale>
        <p:origin x="5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8AA7-95E9-3549-30F3-2B533AA0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B8752-C939-E0A6-D433-09EC2535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5380-5FAF-1495-42D4-FB958EF0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8A2B-F13F-2168-981D-62E0E4A03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665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E58AE-DEED-BC57-6253-696256AE0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DBE22-9D5B-5966-0EA6-85F9746DF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1F618-0C8C-26E0-0CF1-90EC2F5C9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35597-1F79-E4C0-22A0-04F83E6E2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3583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2E75-D6E9-AF40-79FD-BBF2AE7E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D9E8F-1DEE-EFDC-0F2E-E5EF66A1A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0E6843-AC39-91E1-04D7-F037F8791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7C37E-2DCA-C71C-77B6-850E14E58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0549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4C01-C84C-9427-B684-2E837D4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925F4-851D-1E92-3AE0-0CC26598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C2922-EE37-3755-0762-3D6AAAEE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CD58-4EA1-A06B-85CC-C9B4D93CC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2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C574-A905-95F7-797C-4FA7A808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B7DDF-4AA7-6743-EAB2-7A480F063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95D3D-991D-DD34-AB5A-0FF581FE6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BA23A-9C12-1013-24A0-75A738980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911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908C1-6B38-83B0-6F8E-65306B3C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24D64-C5B1-AC25-0CDB-BB2466AC4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86E11-5C29-1691-D1F2-ACB0244F4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69F6B-D2F4-9822-B9B2-F78F518E7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87646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3B617-4F47-3ACB-BD71-153E99AD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A4BCC-80D5-4C3D-513A-1969F301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2D5AB-FA8B-B462-3F99-D8AFFFA66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E58CC-A89C-DB8D-1C4A-011EE8934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6677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1EE06-EC41-2887-B8ED-376F549D2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5B921-CA69-E45C-3AD2-5213B2EEE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B9419-CAC7-64D7-6265-A9D5A30EF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764FC-9DDD-7E08-4052-EF94133CF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53979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5AD3C-FADE-36D0-9862-EB1163B1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1821E-663C-E0C1-64B7-8D2AAAD4D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ADF94A-11EC-BA07-6F22-BA7642B94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ACBB5-5674-97AD-0CB0-5451BC677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95091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A95FE-028A-44DE-35F6-B39A8E93C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FD383-7670-3BEA-08AD-9FB7AB43C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7ECF45-17CA-AC2D-D210-3D0C3375B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832F1-6778-3FAA-BE7D-E4E57A6F0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0157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.dev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tailwindcss.com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07: React Foundations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971550" lvl="1" indent="-514350"/>
            <a:r>
              <a:rPr lang="en-US" dirty="0"/>
              <a:t>Explain what a UI framework/library provides</a:t>
            </a:r>
          </a:p>
          <a:p>
            <a:pPr marL="971550" lvl="1" indent="-514350"/>
            <a:r>
              <a:rPr lang="en-US" dirty="0"/>
              <a:t>Describe how React components differ from Web Components</a:t>
            </a:r>
          </a:p>
          <a:p>
            <a:pPr marL="971550" lvl="1" indent="-514350"/>
            <a:r>
              <a:rPr lang="en-US" dirty="0"/>
              <a:t>Create static React components using JSX</a:t>
            </a:r>
          </a:p>
          <a:p>
            <a:pPr marL="971550" lvl="1" indent="-514350"/>
            <a:r>
              <a:rPr lang="en-US" dirty="0"/>
              <a:t>Apply Tailwind utility classes for layout and styling</a:t>
            </a:r>
          </a:p>
          <a:p>
            <a:pPr marL="971550" lvl="1" indent="-514350"/>
            <a:r>
              <a:rPr lang="en-US" dirty="0"/>
              <a:t>Identify a simple use of props as component inputs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frameworks exist</a:t>
            </a:r>
          </a:p>
          <a:p>
            <a:r>
              <a:rPr lang="en-US" dirty="0"/>
              <a:t>Introducing React and Vite</a:t>
            </a:r>
          </a:p>
          <a:p>
            <a:r>
              <a:rPr lang="en-US" dirty="0"/>
              <a:t>JSX and component structure</a:t>
            </a:r>
          </a:p>
          <a:p>
            <a:r>
              <a:rPr lang="en-US" dirty="0"/>
              <a:t>Tailwind for styling</a:t>
            </a:r>
          </a:p>
          <a:p>
            <a:r>
              <a:rPr lang="en-US" dirty="0"/>
              <a:t>Static component composition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Connecting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Where we are coming from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Vanilla JavaScript</a:t>
            </a:r>
          </a:p>
          <a:p>
            <a:r>
              <a:rPr lang="en-US" dirty="0"/>
              <a:t>Web Components</a:t>
            </a:r>
          </a:p>
          <a:p>
            <a:r>
              <a:rPr lang="en-US" dirty="0"/>
              <a:t>Manual DOM updates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All of this still works.</a:t>
            </a:r>
          </a:p>
          <a:p>
            <a:pPr marL="0" indent="0">
              <a:buNone/>
            </a:pPr>
            <a:r>
              <a:rPr lang="en-CA" dirty="0"/>
              <a:t>Frameworks change </a:t>
            </a:r>
            <a:r>
              <a:rPr lang="en-CA" i="1" dirty="0"/>
              <a:t>how</a:t>
            </a:r>
            <a:r>
              <a:rPr lang="en-CA" dirty="0"/>
              <a:t> we organize and scale UI.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Why Libraries and Frameworks?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they solve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Growing UI complexity</a:t>
            </a:r>
          </a:p>
          <a:p>
            <a:r>
              <a:rPr lang="en-US" dirty="0"/>
              <a:t>Repeated patterns</a:t>
            </a:r>
          </a:p>
          <a:p>
            <a:r>
              <a:rPr lang="en-US" dirty="0"/>
              <a:t>Hard-to-track DOM updates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Libraries provide functionality, tools, and flexibility.</a:t>
            </a:r>
          </a:p>
          <a:p>
            <a:pPr marL="0" indent="0">
              <a:buNone/>
            </a:pPr>
            <a:r>
              <a:rPr lang="en-US" dirty="0"/>
              <a:t>Frameworks provide structure and conventions. 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C3932-1F51-8F04-4501-BFDA63936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frameworks libraries?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29AD5-7EEF-A6B5-9788-0A900F264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Often, the term framework is applied to libraries</a:t>
            </a:r>
          </a:p>
          <a:p>
            <a:r>
              <a:rPr lang="en-US" dirty="0"/>
              <a:t>It may be helpful to think of a framework as an opinionated library</a:t>
            </a:r>
          </a:p>
          <a:p>
            <a:r>
              <a:rPr lang="en-US" dirty="0"/>
              <a:t>We will use the term framework as an umbrella term for in this course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015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DDC-5CAF-8C2E-AC71-BD16391A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F2E8-4E54-ED2C-0752-EE01D1D6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React at a High Level</a:t>
            </a:r>
          </a:p>
        </p:txBody>
      </p:sp>
    </p:spTree>
    <p:extLst>
      <p:ext uri="{BB962C8B-B14F-4D97-AF65-F5344CB8AC3E}">
        <p14:creationId xmlns:p14="http://schemas.microsoft.com/office/powerpoint/2010/main" val="1484660151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39576-5427-0ADA-10F4-865ACD2F3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519A-A233-24D7-52BE-831AD2B5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React gives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6DEC3-94B8-5AF7-B03D-628C50C5A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Component-based UI</a:t>
            </a:r>
          </a:p>
          <a:p>
            <a:r>
              <a:rPr lang="en-US" dirty="0"/>
              <a:t>Declarative rendering</a:t>
            </a:r>
          </a:p>
          <a:p>
            <a:r>
              <a:rPr lang="en-US" dirty="0"/>
              <a:t>A predictable mental model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React does not replace JavaScript.</a:t>
            </a:r>
          </a:p>
          <a:p>
            <a:pPr marL="0" indent="0">
              <a:buNone/>
            </a:pPr>
            <a:r>
              <a:rPr lang="en-US" dirty="0"/>
              <a:t>It builds on it.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https://react.dev/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6176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44B37-6330-3D14-994A-856BB88E2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D9DD-B0CB-06AD-DA6C-A16CABA6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Vite as the Tooling Layer</a:t>
            </a:r>
          </a:p>
        </p:txBody>
      </p:sp>
    </p:spTree>
    <p:extLst>
      <p:ext uri="{BB962C8B-B14F-4D97-AF65-F5344CB8AC3E}">
        <p14:creationId xmlns:p14="http://schemas.microsoft.com/office/powerpoint/2010/main" val="3341591696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9768-B8BB-1AEA-D538-D18DEA28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D0AB4-581D-3B24-E768-6DC3BCB7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use Vite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FE643-E95A-8E85-A833-3F24CA2C5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 dev server</a:t>
            </a:r>
          </a:p>
          <a:p>
            <a:r>
              <a:rPr lang="en-US" dirty="0"/>
              <a:t>Modern defaults</a:t>
            </a:r>
          </a:p>
          <a:p>
            <a:r>
              <a:rPr lang="en-US" dirty="0"/>
              <a:t>Minimal configuration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Vite handles the build so we can focus on UI.</a:t>
            </a:r>
          </a:p>
        </p:txBody>
      </p:sp>
    </p:spTree>
    <p:extLst>
      <p:ext uri="{BB962C8B-B14F-4D97-AF65-F5344CB8AC3E}">
        <p14:creationId xmlns:p14="http://schemas.microsoft.com/office/powerpoint/2010/main" val="3639527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21F8D-058A-8175-F2A7-5821479A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F7730-3BB5-F427-473C-7B248991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JSX</a:t>
            </a:r>
          </a:p>
        </p:txBody>
      </p:sp>
    </p:spTree>
    <p:extLst>
      <p:ext uri="{BB962C8B-B14F-4D97-AF65-F5344CB8AC3E}">
        <p14:creationId xmlns:p14="http://schemas.microsoft.com/office/powerpoint/2010/main" val="746458785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1F1-084A-F978-AD19-FC8928A6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40565-C5D2-B494-7F34-B87C4F83C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HTML-like syntax in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AC8-9404-3E45-2BB8-524319B1A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Looks like HTML</a:t>
            </a:r>
          </a:p>
          <a:p>
            <a:r>
              <a:rPr lang="en-US" dirty="0"/>
              <a:t>Lives inside JavaScript files</a:t>
            </a:r>
          </a:p>
          <a:p>
            <a:r>
              <a:rPr lang="en-US" dirty="0"/>
              <a:t>Compiles to JavaScript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JSX describes what the UI </a:t>
            </a:r>
            <a:r>
              <a:rPr lang="en-US" b="1" dirty="0"/>
              <a:t>should look like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5638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9BB5-66C3-BD9B-A70C-B3B0E39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5B8E-CFB5-5DB8-9F62-98193E27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React Components</a:t>
            </a:r>
          </a:p>
        </p:txBody>
      </p:sp>
    </p:spTree>
    <p:extLst>
      <p:ext uri="{BB962C8B-B14F-4D97-AF65-F5344CB8AC3E}">
        <p14:creationId xmlns:p14="http://schemas.microsoft.com/office/powerpoint/2010/main" val="3204336034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2B89F-1AB9-8574-CCFA-ADBF88B7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3954-8CB9-D9D6-3E5A-0D9235836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that return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5859-94EF-C7E0-B65A-C84A04C86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Components are functions</a:t>
            </a:r>
          </a:p>
          <a:p>
            <a:r>
              <a:rPr lang="en-US" dirty="0"/>
              <a:t>They return JSX</a:t>
            </a:r>
          </a:p>
          <a:p>
            <a:r>
              <a:rPr lang="en-US" dirty="0"/>
              <a:t>They describe part of the interface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now, we will work static with components.</a:t>
            </a:r>
          </a:p>
        </p:txBody>
      </p:sp>
    </p:spTree>
    <p:extLst>
      <p:ext uri="{BB962C8B-B14F-4D97-AF65-F5344CB8AC3E}">
        <p14:creationId xmlns:p14="http://schemas.microsoft.com/office/powerpoint/2010/main" val="1830162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921E6-990F-3418-1CCF-0F1C7C0C6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F335C-98F7-A233-B3F9-B129C39A6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Static Components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71156263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99A8-F5D7-3FC8-C4E3-1C1B403E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are </a:t>
            </a:r>
            <a:r>
              <a:rPr lang="en-US" i="1" dirty="0"/>
              <a:t>not</a:t>
            </a:r>
            <a:r>
              <a:rPr lang="en-US" dirty="0"/>
              <a:t> doing yet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7D136-F0B8-16E7-3E2E-AA9D4908A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internal state</a:t>
            </a:r>
          </a:p>
          <a:p>
            <a:r>
              <a:rPr lang="en-US" dirty="0"/>
              <a:t>No side effects</a:t>
            </a:r>
          </a:p>
          <a:p>
            <a:r>
              <a:rPr lang="en-US" dirty="0"/>
              <a:t>Minimal prop usage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keeps the focus on structure and styling.</a:t>
            </a:r>
          </a:p>
        </p:txBody>
      </p:sp>
    </p:spTree>
    <p:extLst>
      <p:ext uri="{BB962C8B-B14F-4D97-AF65-F5344CB8AC3E}">
        <p14:creationId xmlns:p14="http://schemas.microsoft.com/office/powerpoint/2010/main" val="3800437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3FF2-718A-9065-98FF-79B579E0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A39A-7D80-55AD-196A-84FB7A06F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A First Look at Props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97644104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22B3-1CE3-1E1B-90DB-A3F8D34D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Props are inputs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3557C-A9AB-DCBE-122B-7D3F4D146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Passed into a component</a:t>
            </a:r>
          </a:p>
          <a:p>
            <a:r>
              <a:rPr lang="en-CA" dirty="0"/>
              <a:t>Read-only</a:t>
            </a:r>
          </a:p>
          <a:p>
            <a:r>
              <a:rPr lang="en-CA" dirty="0"/>
              <a:t>Typically used for display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158803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969E2-2604-57B7-BA36-ABE43CCA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BCA8E-683C-3712-D44B-33515BC6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Component Composition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68515927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F1CE5-C4AC-4AAD-1BE2-61F7590DD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page from pieces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5B33-C6D8-B4FA-51B9-2D89C29F4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Small components</a:t>
            </a:r>
          </a:p>
          <a:p>
            <a:r>
              <a:rPr lang="en-US" dirty="0"/>
              <a:t>Composed in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App.jsx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/>
              <a:t>Each component has one responsibility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replaces manual DOM assembly.</a:t>
            </a:r>
          </a:p>
        </p:txBody>
      </p:sp>
    </p:spTree>
    <p:extLst>
      <p:ext uri="{BB962C8B-B14F-4D97-AF65-F5344CB8AC3E}">
        <p14:creationId xmlns:p14="http://schemas.microsoft.com/office/powerpoint/2010/main" val="11227875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E3A23-E8EF-8998-4BCB-7D3D2FD45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9089A-B2A5-EF23-AFB8-AE7917F53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Tailwind CSS</a:t>
            </a:r>
          </a:p>
        </p:txBody>
      </p:sp>
    </p:spTree>
    <p:extLst>
      <p:ext uri="{BB962C8B-B14F-4D97-AF65-F5344CB8AC3E}">
        <p14:creationId xmlns:p14="http://schemas.microsoft.com/office/powerpoint/2010/main" val="1986178434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E877-0EA3-695E-C85E-0732EE5FF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7AC32-BC89-CE84-1701-B2335D5D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Utility-first styling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2BF19-AB39-BE49-8C7C-3A29B1862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 pre-built components</a:t>
            </a:r>
          </a:p>
          <a:p>
            <a:r>
              <a:rPr lang="en-US" dirty="0"/>
              <a:t>Classes describe layout and spacing</a:t>
            </a:r>
          </a:p>
          <a:p>
            <a:r>
              <a:rPr lang="en-US" dirty="0"/>
              <a:t>Styles live close to markup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Tailwind trades abstraction for clarity.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https://tailwindcss.com/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6043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FB298-8217-C169-8161-DF413241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9014-C30C-F16A-8EF8-01B4CC4F2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Styling Strategy</a:t>
            </a:r>
          </a:p>
        </p:txBody>
      </p:sp>
    </p:spTree>
    <p:extLst>
      <p:ext uri="{BB962C8B-B14F-4D97-AF65-F5344CB8AC3E}">
        <p14:creationId xmlns:p14="http://schemas.microsoft.com/office/powerpoint/2010/main" val="3583935102"/>
      </p:ext>
    </p:extLst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920B6-0F1F-328B-252A-75A46C4CA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51C8C-D6C9-F221-FD85-10999210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focus on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FC555-A632-BF7A-8E14-013948112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Layout</a:t>
            </a:r>
          </a:p>
          <a:p>
            <a:r>
              <a:rPr lang="en-US" dirty="0"/>
              <a:t>Spacing</a:t>
            </a:r>
          </a:p>
          <a:p>
            <a:r>
              <a:rPr lang="en-US" dirty="0"/>
              <a:t>Alignment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 pixel-perfect parity with the previous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4095847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504D3-F223-9EF4-EA4B-2E4719194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E4681-FBA1-4ED3-F886-DE9C12BA0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Comparing Old and New</a:t>
            </a:r>
          </a:p>
        </p:txBody>
      </p:sp>
    </p:spTree>
    <p:extLst>
      <p:ext uri="{BB962C8B-B14F-4D97-AF65-F5344CB8AC3E}">
        <p14:creationId xmlns:p14="http://schemas.microsoft.com/office/powerpoint/2010/main" val="939329546"/>
      </p:ext>
    </p:extLst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3B49-A8F9-9C38-2146-F342BD258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Same domain, different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32C82-E7BD-14D4-6BE0-E8D72E4F4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Web Components vs React components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main.js</a:t>
            </a:r>
            <a:r>
              <a:rPr lang="en-CA" dirty="0"/>
              <a:t> vs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main.jsx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/>
              <a:t>Bootstrap vs Tailwind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Different abstractions, same UI goals.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7868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dirty="0"/>
              <a:t>Exercise: Update an existing component-based app load asynchronous data</a:t>
            </a:r>
          </a:p>
          <a:p>
            <a:pPr marL="0" indent="0">
              <a:buNone/>
            </a:pPr>
            <a:r>
              <a:rPr lang="en-CA" b="1" dirty="0"/>
              <a:t>Objective:</a:t>
            </a:r>
            <a:r>
              <a:rPr lang="en-CA" dirty="0"/>
              <a:t> Implement fetch API to retrieve and display dynamic data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Scaffold a React app with Vite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Configure Tailwind CSS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Create static components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Compose them in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App.jsx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lesson, we covered the following: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Explain what a UI framework/library provides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Describe how React components differ from Web Components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Create static React components using JSX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Apply Tailwind utility classes for layout and styling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Identify a simple use of props as component inputs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  <a:p>
            <a:pPr marL="514373" indent="-514350"/>
            <a:r>
              <a:rPr lang="en-CA" dirty="0"/>
              <a:t>Complete lesson 7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“What problem do frameworks solve?”</a:t>
            </a:r>
          </a:p>
          <a:p>
            <a:r>
              <a:rPr lang="en-US" dirty="0"/>
              <a:t>“How is JSX different from HTML?”</a:t>
            </a:r>
          </a:p>
          <a:p>
            <a:r>
              <a:rPr lang="en-US"/>
              <a:t>“What are props used for?”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16714</TotalTime>
  <Words>585</Words>
  <Application>Microsoft Macintosh PowerPoint</Application>
  <PresentationFormat>Widescreen</PresentationFormat>
  <Paragraphs>143</Paragraphs>
  <Slides>31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Connecting</vt:lpstr>
      <vt:lpstr>Where we are coming from</vt:lpstr>
      <vt:lpstr>Why Libraries and Frameworks?</vt:lpstr>
      <vt:lpstr>The problem they solve</vt:lpstr>
      <vt:lpstr>Are frameworks libraries?</vt:lpstr>
      <vt:lpstr>React at a High Level</vt:lpstr>
      <vt:lpstr>What React gives us</vt:lpstr>
      <vt:lpstr>Vite as the Tooling Layer</vt:lpstr>
      <vt:lpstr>Why we use Vite</vt:lpstr>
      <vt:lpstr>JSX</vt:lpstr>
      <vt:lpstr>HTML-like syntax in JavaScript</vt:lpstr>
      <vt:lpstr>React Components</vt:lpstr>
      <vt:lpstr>Functions that return UI</vt:lpstr>
      <vt:lpstr>Static Components</vt:lpstr>
      <vt:lpstr>What we are not doing yet</vt:lpstr>
      <vt:lpstr>A First Look at Props</vt:lpstr>
      <vt:lpstr>Props are inputs</vt:lpstr>
      <vt:lpstr>Component Composition</vt:lpstr>
      <vt:lpstr>Building a page from pieces</vt:lpstr>
      <vt:lpstr>Tailwind CSS</vt:lpstr>
      <vt:lpstr>Utility-first styling</vt:lpstr>
      <vt:lpstr>Styling Strategy</vt:lpstr>
      <vt:lpstr>What we focus on today</vt:lpstr>
      <vt:lpstr>Comparing Old and New</vt:lpstr>
      <vt:lpstr>Same domain, different tools</vt:lpstr>
      <vt:lpstr>Hands-on Practice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104</cp:revision>
  <dcterms:created xsi:type="dcterms:W3CDTF">2025-05-09T22:20:28Z</dcterms:created>
  <dcterms:modified xsi:type="dcterms:W3CDTF">2026-02-03T19:33:25Z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